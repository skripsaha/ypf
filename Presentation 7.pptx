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7A846A-9588-423B-B83A-CA604725A0D7}" v="29" dt="2026-01-19T00:00:54.043"/>
    <p1510:client id="{8C1052B1-01F5-42BD-98F3-676898BCB399}" v="1" dt="2026-01-19T01:42:47.178"/>
    <p1510:client id="{EC019E07-798D-48FA-8EAF-780EB035EE9C}" v="2315" dt="2026-01-19T01:40:25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37516" y="1689960"/>
            <a:ext cx="9144000" cy="238760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/>
            <a:r>
              <a:rPr lang="ru-RU" b="1" err="1"/>
              <a:t>your</a:t>
            </a:r>
            <a:br>
              <a:rPr lang="ru-RU" b="1" dirty="0"/>
            </a:br>
            <a:r>
              <a:rPr lang="ru-RU" b="1" err="1"/>
              <a:t>penetration</a:t>
            </a:r>
            <a:br>
              <a:rPr lang="ru-RU" b="1" dirty="0"/>
            </a:br>
            <a:r>
              <a:rPr lang="ru-RU" b="1" err="1"/>
              <a:t>friend</a:t>
            </a:r>
            <a:endParaRPr lang="ru-RU" b="1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39676" y="4078195"/>
            <a:ext cx="466344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 dirty="0"/>
              <a:t>статический анализатор кода</a:t>
            </a:r>
          </a:p>
        </p:txBody>
      </p:sp>
      <p:pic>
        <p:nvPicPr>
          <p:cNvPr id="6" name="Рисунок 5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49FE08C-C05F-1D6C-F979-357707C0E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076" y="648877"/>
            <a:ext cx="5049520" cy="50596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71CB17-337D-8627-2F32-AB8E436B0C1D}"/>
              </a:ext>
            </a:extLst>
          </p:cNvPr>
          <p:cNvSpPr txBox="1"/>
          <p:nvPr/>
        </p:nvSpPr>
        <p:spPr>
          <a:xfrm>
            <a:off x="8331200" y="6365240"/>
            <a:ext cx="6096000" cy="3586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000" err="1"/>
              <a:t>Александр</a:t>
            </a:r>
            <a:r>
              <a:rPr lang="en-US" sz="1000" dirty="0"/>
              <a:t>, 9 </a:t>
            </a:r>
            <a:r>
              <a:rPr lang="en-US" sz="1000" err="1"/>
              <a:t>класс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E4A4C-3D48-3F19-A242-B7CBE3F21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FA534F-5760-833A-84C7-0352C5523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55" y="119496"/>
            <a:ext cx="1830659" cy="1272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2400" b="1" dirty="0" err="1"/>
              <a:t>your</a:t>
            </a:r>
            <a:br>
              <a:rPr lang="ru-RU" sz="2400" b="1" dirty="0"/>
            </a:br>
            <a:r>
              <a:rPr lang="ru-RU" sz="2400" b="1" dirty="0" err="1"/>
              <a:t>penetration</a:t>
            </a:r>
            <a:br>
              <a:rPr lang="ru-RU" sz="2400" b="1" dirty="0"/>
            </a:br>
            <a:r>
              <a:rPr lang="ru-RU" sz="2400" b="1" dirty="0" err="1"/>
              <a:t>friend</a:t>
            </a:r>
            <a:endParaRPr lang="ru-RU" sz="2400" b="1"/>
          </a:p>
        </p:txBody>
      </p:sp>
      <p:pic>
        <p:nvPicPr>
          <p:cNvPr id="6" name="Рисунок 5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2BA6AE2-246C-7144-65DF-195E8BC9F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563" y="-243221"/>
            <a:ext cx="1759911" cy="1788656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DECBF26-3370-331F-C76B-48E2C98E87FE}"/>
              </a:ext>
            </a:extLst>
          </p:cNvPr>
          <p:cNvSpPr txBox="1">
            <a:spLocks/>
          </p:cNvSpPr>
          <p:nvPr/>
        </p:nvSpPr>
        <p:spPr>
          <a:xfrm>
            <a:off x="3039575" y="2046799"/>
            <a:ext cx="6114586" cy="12724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9600" b="1" dirty="0"/>
              <a:t>проблема</a:t>
            </a:r>
            <a:endParaRPr lang="ru-RU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4E33DC5-3871-8F75-A6FB-73ECC18C6D26}"/>
              </a:ext>
            </a:extLst>
          </p:cNvPr>
          <p:cNvSpPr txBox="1">
            <a:spLocks/>
          </p:cNvSpPr>
          <p:nvPr/>
        </p:nvSpPr>
        <p:spPr>
          <a:xfrm>
            <a:off x="2630697" y="3561506"/>
            <a:ext cx="7173950" cy="13003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latin typeface="Consolas"/>
              </a:rPr>
              <a:t>"разработчики создают, хакеры используют"</a:t>
            </a:r>
            <a:endParaRPr lang="en-US" sz="2400" dirty="0">
              <a:latin typeface="Consolas"/>
            </a:endParaRPr>
          </a:p>
          <a:p>
            <a:endParaRPr lang="ru-RU" sz="2400" b="1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584668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E3E87-21A9-3172-BF8C-BD28A5A9E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80484-55A1-84FB-09F2-F7F927406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55" y="119496"/>
            <a:ext cx="1830659" cy="1272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2400" b="1" dirty="0" err="1"/>
              <a:t>your</a:t>
            </a:r>
            <a:br>
              <a:rPr lang="ru-RU" sz="2400" b="1" dirty="0"/>
            </a:br>
            <a:r>
              <a:rPr lang="ru-RU" sz="2400" b="1" dirty="0" err="1"/>
              <a:t>penetration</a:t>
            </a:r>
            <a:br>
              <a:rPr lang="ru-RU" sz="2400" b="1" dirty="0"/>
            </a:br>
            <a:r>
              <a:rPr lang="ru-RU" sz="2400" b="1" dirty="0" err="1"/>
              <a:t>friend</a:t>
            </a:r>
            <a:endParaRPr lang="ru-RU" sz="2400" b="1"/>
          </a:p>
        </p:txBody>
      </p:sp>
      <p:pic>
        <p:nvPicPr>
          <p:cNvPr id="6" name="Рисунок 5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28FE8A-E14D-5606-3196-4FD2B2B21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563" y="-243221"/>
            <a:ext cx="1759911" cy="1788656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C55CE22-4991-7081-EB70-88233A18BE36}"/>
              </a:ext>
            </a:extLst>
          </p:cNvPr>
          <p:cNvSpPr txBox="1">
            <a:spLocks/>
          </p:cNvSpPr>
          <p:nvPr/>
        </p:nvSpPr>
        <p:spPr>
          <a:xfrm>
            <a:off x="3169672" y="271897"/>
            <a:ext cx="6114586" cy="12724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9600" b="1" dirty="0"/>
              <a:t>проблема</a:t>
            </a:r>
            <a:endParaRPr lang="ru-RU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FCFA4A7-2FED-693B-19AB-8C85B8CC5412}"/>
              </a:ext>
            </a:extLst>
          </p:cNvPr>
          <p:cNvSpPr txBox="1">
            <a:spLocks/>
          </p:cNvSpPr>
          <p:nvPr/>
        </p:nvSpPr>
        <p:spPr>
          <a:xfrm>
            <a:off x="2760794" y="1823774"/>
            <a:ext cx="6932341" cy="13003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latin typeface="Consolas"/>
              </a:rPr>
              <a:t>70% </a:t>
            </a:r>
            <a:r>
              <a:rPr lang="ru-RU" sz="2400" b="1" dirty="0">
                <a:latin typeface="Aptos Display"/>
              </a:rPr>
              <a:t>уязвимостей</a:t>
            </a:r>
            <a:r>
              <a:rPr lang="ru-RU" sz="2400" b="1" dirty="0">
                <a:latin typeface="Consolas"/>
              </a:rPr>
              <a:t> возникают из-за ошибок 
программирования  (OWASP, 2023)
</a:t>
            </a:r>
            <a:endParaRPr lang="ru-RU" sz="2400" b="1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8B016F0C-A0EB-91B5-4965-EC7A9EC09DAD}"/>
              </a:ext>
            </a:extLst>
          </p:cNvPr>
          <p:cNvSpPr txBox="1">
            <a:spLocks/>
          </p:cNvSpPr>
          <p:nvPr/>
        </p:nvSpPr>
        <p:spPr>
          <a:xfrm>
            <a:off x="-1262938" y="3570799"/>
            <a:ext cx="6681440" cy="436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AutoNum type="arabicPeriod"/>
            </a:pPr>
            <a:r>
              <a:rPr lang="ru-RU" sz="2000" b="1" dirty="0">
                <a:latin typeface="Consolas"/>
              </a:rPr>
              <a:t>SQL-инъекции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48A720FA-1BE7-D9BE-DE69-637590C1EF72}"/>
              </a:ext>
            </a:extLst>
          </p:cNvPr>
          <p:cNvSpPr txBox="1">
            <a:spLocks/>
          </p:cNvSpPr>
          <p:nvPr/>
        </p:nvSpPr>
        <p:spPr>
          <a:xfrm>
            <a:off x="2705038" y="3570797"/>
            <a:ext cx="6681440" cy="436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Consolas"/>
              </a:rPr>
              <a:t>2. </a:t>
            </a:r>
            <a:r>
              <a:rPr lang="ru-RU" sz="2000" b="1" dirty="0" err="1">
                <a:latin typeface="Consolas"/>
              </a:rPr>
              <a:t>коммандные</a:t>
            </a:r>
            <a:r>
              <a:rPr lang="ru-RU" sz="2000" b="1" dirty="0">
                <a:latin typeface="Consolas"/>
              </a:rPr>
              <a:t> инъекции</a:t>
            </a:r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426B2E5D-3035-013B-2AA5-2DA0C2167048}"/>
              </a:ext>
            </a:extLst>
          </p:cNvPr>
          <p:cNvSpPr txBox="1">
            <a:spLocks/>
          </p:cNvSpPr>
          <p:nvPr/>
        </p:nvSpPr>
        <p:spPr>
          <a:xfrm>
            <a:off x="6468574" y="3570797"/>
            <a:ext cx="6681440" cy="436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Consolas"/>
              </a:rPr>
              <a:t>3. XSS</a:t>
            </a:r>
            <a:endParaRPr lang="ru-RU" dirty="0"/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0516E06A-6B7B-8719-C86D-C440A98E27B9}"/>
              </a:ext>
            </a:extLst>
          </p:cNvPr>
          <p:cNvSpPr txBox="1">
            <a:spLocks/>
          </p:cNvSpPr>
          <p:nvPr/>
        </p:nvSpPr>
        <p:spPr>
          <a:xfrm>
            <a:off x="911550" y="3988968"/>
            <a:ext cx="2202368" cy="14118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b="1" dirty="0" err="1">
                <a:solidFill>
                  <a:srgbClr val="000000"/>
                </a:solidFill>
                <a:latin typeface="Consolas"/>
              </a:rPr>
              <a:t>query</a:t>
            </a:r>
            <a:r>
              <a:rPr lang="ru-RU" sz="16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ru-RU" sz="1600" b="1" dirty="0" err="1">
                <a:solidFill>
                  <a:srgbClr val="000000"/>
                </a:solidFill>
                <a:latin typeface="Consolas"/>
              </a:rPr>
              <a:t>f"SELECT</a:t>
            </a:r>
            <a:r>
              <a:rPr lang="ru-RU" sz="1600" b="1" dirty="0">
                <a:solidFill>
                  <a:srgbClr val="000000"/>
                </a:solidFill>
                <a:latin typeface="Consolas"/>
              </a:rPr>
              <a:t> * FROM </a:t>
            </a:r>
            <a:r>
              <a:rPr lang="ru-RU" sz="1600" b="1" dirty="0" err="1">
                <a:solidFill>
                  <a:srgbClr val="000000"/>
                </a:solidFill>
                <a:latin typeface="Consolas"/>
              </a:rPr>
              <a:t>users</a:t>
            </a:r>
            <a:r>
              <a:rPr lang="ru-RU" sz="1600" b="1" dirty="0">
                <a:solidFill>
                  <a:srgbClr val="000000"/>
                </a:solidFill>
                <a:latin typeface="Consolas"/>
              </a:rPr>
              <a:t> WHERE </a:t>
            </a:r>
            <a:r>
              <a:rPr lang="ru-RU" sz="1600" b="1" dirty="0" err="1">
                <a:solidFill>
                  <a:srgbClr val="000000"/>
                </a:solidFill>
                <a:latin typeface="Consolas"/>
              </a:rPr>
              <a:t>id</a:t>
            </a:r>
            <a:r>
              <a:rPr lang="ru-RU" sz="1600" b="1" dirty="0">
                <a:solidFill>
                  <a:srgbClr val="000000"/>
                </a:solidFill>
                <a:latin typeface="Consolas"/>
              </a:rPr>
              <a:t> = {</a:t>
            </a:r>
            <a:r>
              <a:rPr lang="ru-RU" sz="1600" b="1" dirty="0" err="1">
                <a:solidFill>
                  <a:srgbClr val="000000"/>
                </a:solidFill>
                <a:latin typeface="Consolas"/>
              </a:rPr>
              <a:t>input</a:t>
            </a:r>
            <a:r>
              <a:rPr lang="ru-RU" sz="1600" b="1" dirty="0">
                <a:solidFill>
                  <a:srgbClr val="000000"/>
                </a:solidFill>
                <a:latin typeface="Consolas"/>
              </a:rPr>
              <a:t>}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6D852C73-5314-471A-80BC-A3C6C1EA0B09}"/>
              </a:ext>
            </a:extLst>
          </p:cNvPr>
          <p:cNvSpPr txBox="1">
            <a:spLocks/>
          </p:cNvSpPr>
          <p:nvPr/>
        </p:nvSpPr>
        <p:spPr>
          <a:xfrm>
            <a:off x="4675086" y="3988968"/>
            <a:ext cx="3010831" cy="14118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b="1" dirty="0" err="1">
                <a:solidFill>
                  <a:srgbClr val="000000"/>
                </a:solidFill>
                <a:latin typeface="Consolas"/>
              </a:rPr>
              <a:t>os.system</a:t>
            </a:r>
            <a:r>
              <a:rPr lang="ru-RU" sz="16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ru-RU" sz="1600" b="1" dirty="0" err="1">
                <a:solidFill>
                  <a:srgbClr val="000000"/>
                </a:solidFill>
                <a:latin typeface="Consolas"/>
              </a:rPr>
              <a:t>f"ping</a:t>
            </a:r>
            <a:r>
              <a:rPr lang="ru-RU" sz="1600" b="1" dirty="0">
                <a:solidFill>
                  <a:srgbClr val="000000"/>
                </a:solidFill>
                <a:latin typeface="Consolas"/>
              </a:rPr>
              <a:t> {</a:t>
            </a:r>
            <a:r>
              <a:rPr lang="ru-RU" sz="1600" b="1" dirty="0" err="1">
                <a:solidFill>
                  <a:srgbClr val="000000"/>
                </a:solidFill>
                <a:latin typeface="Consolas"/>
              </a:rPr>
              <a:t>host</a:t>
            </a:r>
            <a:r>
              <a:rPr lang="ru-RU" sz="1600" b="1" dirty="0">
                <a:solidFill>
                  <a:srgbClr val="000000"/>
                </a:solidFill>
                <a:latin typeface="Consolas"/>
              </a:rPr>
              <a:t>}")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D0ABF4C5-BDCB-43A4-1522-C6DBFDED3C63}"/>
              </a:ext>
            </a:extLst>
          </p:cNvPr>
          <p:cNvSpPr txBox="1">
            <a:spLocks/>
          </p:cNvSpPr>
          <p:nvPr/>
        </p:nvSpPr>
        <p:spPr>
          <a:xfrm>
            <a:off x="9237792" y="3988968"/>
            <a:ext cx="2202368" cy="14118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b="1" dirty="0" err="1">
                <a:solidFill>
                  <a:srgbClr val="000000"/>
                </a:solidFill>
                <a:latin typeface="Consolas"/>
              </a:rPr>
              <a:t>return</a:t>
            </a:r>
            <a:r>
              <a:rPr lang="ru-RU" sz="1600" b="1" dirty="0">
                <a:solidFill>
                  <a:srgbClr val="000000"/>
                </a:solidFill>
                <a:latin typeface="Consolas"/>
              </a:rPr>
              <a:t> f"&lt;h1&gt;{</a:t>
            </a:r>
            <a:r>
              <a:rPr lang="ru-RU" sz="1600" b="1" dirty="0" err="1">
                <a:solidFill>
                  <a:srgbClr val="000000"/>
                </a:solidFill>
                <a:latin typeface="Consolas"/>
              </a:rPr>
              <a:t>user_input</a:t>
            </a:r>
            <a:r>
              <a:rPr lang="ru-RU" sz="1600" b="1" dirty="0">
                <a:solidFill>
                  <a:srgbClr val="000000"/>
                </a:solidFill>
                <a:latin typeface="Consolas"/>
              </a:rPr>
              <a:t>}&lt;/h1&gt;"</a:t>
            </a:r>
          </a:p>
        </p:txBody>
      </p:sp>
    </p:spTree>
    <p:extLst>
      <p:ext uri="{BB962C8B-B14F-4D97-AF65-F5344CB8AC3E}">
        <p14:creationId xmlns:p14="http://schemas.microsoft.com/office/powerpoint/2010/main" val="2054133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D45DB-2206-5A1A-692E-9D4380E76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D46880-B8A7-F67C-52B7-A7778D9F5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55" y="119496"/>
            <a:ext cx="1830659" cy="1272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2400" b="1" dirty="0" err="1"/>
              <a:t>your</a:t>
            </a:r>
            <a:br>
              <a:rPr lang="ru-RU" sz="2400" b="1" dirty="0"/>
            </a:br>
            <a:r>
              <a:rPr lang="ru-RU" sz="2400" b="1" dirty="0" err="1"/>
              <a:t>penetration</a:t>
            </a:r>
            <a:br>
              <a:rPr lang="ru-RU" sz="2400" b="1" dirty="0"/>
            </a:br>
            <a:r>
              <a:rPr lang="ru-RU" sz="2400" b="1" dirty="0" err="1"/>
              <a:t>friend</a:t>
            </a:r>
            <a:endParaRPr lang="ru-RU" sz="2400" b="1"/>
          </a:p>
        </p:txBody>
      </p:sp>
      <p:pic>
        <p:nvPicPr>
          <p:cNvPr id="6" name="Рисунок 5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F8B3D39-11E8-416E-FAD9-D8B8B335C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563" y="-243221"/>
            <a:ext cx="1759911" cy="1788656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76D3B8A8-D210-9A7F-035A-E6011CBC0E92}"/>
              </a:ext>
            </a:extLst>
          </p:cNvPr>
          <p:cNvSpPr txBox="1">
            <a:spLocks/>
          </p:cNvSpPr>
          <p:nvPr/>
        </p:nvSpPr>
        <p:spPr>
          <a:xfrm>
            <a:off x="3039575" y="2046799"/>
            <a:ext cx="6114586" cy="12724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9600" b="1" dirty="0"/>
              <a:t>решение</a:t>
            </a:r>
            <a:endParaRPr lang="ru-RU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D1DEF65-AB50-505A-B269-17BEFDF73637}"/>
              </a:ext>
            </a:extLst>
          </p:cNvPr>
          <p:cNvSpPr txBox="1">
            <a:spLocks/>
          </p:cNvSpPr>
          <p:nvPr/>
        </p:nvSpPr>
        <p:spPr>
          <a:xfrm>
            <a:off x="2509892" y="3431408"/>
            <a:ext cx="7173950" cy="13003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latin typeface="Consolas"/>
              </a:rPr>
              <a:t>использование сервиса </a:t>
            </a:r>
            <a:r>
              <a:rPr lang="ru-RU" sz="2400" b="1" dirty="0" err="1">
                <a:latin typeface="Consolas"/>
              </a:rPr>
              <a:t>ypf</a:t>
            </a:r>
            <a:endParaRPr lang="ru-RU" sz="2400" b="1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002147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CEF57-7244-5CE0-8DD2-77AF09D67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736DA9-0EB0-51BA-E79E-F621841B4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55" y="119496"/>
            <a:ext cx="1830659" cy="1272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2400" b="1" dirty="0" err="1"/>
              <a:t>your</a:t>
            </a:r>
            <a:br>
              <a:rPr lang="ru-RU" sz="2400" b="1" dirty="0"/>
            </a:br>
            <a:r>
              <a:rPr lang="ru-RU" sz="2400" b="1" dirty="0" err="1"/>
              <a:t>penetration</a:t>
            </a:r>
            <a:br>
              <a:rPr lang="ru-RU" sz="2400" b="1" dirty="0"/>
            </a:br>
            <a:r>
              <a:rPr lang="ru-RU" sz="2400" b="1" dirty="0" err="1"/>
              <a:t>friend</a:t>
            </a:r>
            <a:endParaRPr lang="ru-RU" sz="2400" b="1"/>
          </a:p>
        </p:txBody>
      </p:sp>
      <p:pic>
        <p:nvPicPr>
          <p:cNvPr id="6" name="Рисунок 5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884168C-4FFC-17F1-FDCA-A1A8EBF0D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563" y="-243221"/>
            <a:ext cx="1759911" cy="1788656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D2C35E4A-1DC2-B056-5696-68ACE5BC53AB}"/>
              </a:ext>
            </a:extLst>
          </p:cNvPr>
          <p:cNvSpPr txBox="1">
            <a:spLocks/>
          </p:cNvSpPr>
          <p:nvPr/>
        </p:nvSpPr>
        <p:spPr>
          <a:xfrm>
            <a:off x="3169672" y="271897"/>
            <a:ext cx="6114586" cy="12724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9600" b="1" dirty="0"/>
              <a:t>решение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92DCD0B-354D-BC2B-4763-C80BA76F9513}"/>
              </a:ext>
            </a:extLst>
          </p:cNvPr>
          <p:cNvSpPr txBox="1">
            <a:spLocks/>
          </p:cNvSpPr>
          <p:nvPr/>
        </p:nvSpPr>
        <p:spPr>
          <a:xfrm>
            <a:off x="2760794" y="1805189"/>
            <a:ext cx="6932341" cy="13003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latin typeface="Consolas"/>
              </a:rPr>
              <a:t>что делает "помощник разработчика"?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CB68C349-F7D6-C39B-BEA4-B05A0235D6B4}"/>
              </a:ext>
            </a:extLst>
          </p:cNvPr>
          <p:cNvSpPr txBox="1">
            <a:spLocks/>
          </p:cNvSpPr>
          <p:nvPr/>
        </p:nvSpPr>
        <p:spPr>
          <a:xfrm>
            <a:off x="-1894840" y="3542921"/>
            <a:ext cx="6681440" cy="436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AutoNum type="arabicPeriod"/>
            </a:pPr>
            <a:r>
              <a:rPr lang="ru-RU" sz="2000" b="1" dirty="0">
                <a:latin typeface="Consolas"/>
              </a:rPr>
              <a:t>Сканирует код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86411CB4-92EB-4A88-8C36-208C4FB5F481}"/>
              </a:ext>
            </a:extLst>
          </p:cNvPr>
          <p:cNvSpPr txBox="1">
            <a:spLocks/>
          </p:cNvSpPr>
          <p:nvPr/>
        </p:nvSpPr>
        <p:spPr>
          <a:xfrm>
            <a:off x="1041648" y="3542919"/>
            <a:ext cx="6681440" cy="436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Consolas"/>
              </a:rPr>
              <a:t>2. Находит уязвимости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CFDA0E51-07BF-1C58-C6BE-B1A5FE5F7CD8}"/>
              </a:ext>
            </a:extLst>
          </p:cNvPr>
          <p:cNvSpPr txBox="1">
            <a:spLocks/>
          </p:cNvSpPr>
          <p:nvPr/>
        </p:nvSpPr>
        <p:spPr>
          <a:xfrm>
            <a:off x="7035427" y="3682309"/>
            <a:ext cx="6681440" cy="436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Consolas"/>
              </a:rPr>
              <a:t>4. Дает исправления</a:t>
            </a:r>
          </a:p>
          <a:p>
            <a:r>
              <a:rPr lang="ru-RU" sz="2000" b="1" dirty="0">
                <a:latin typeface="Consolas"/>
              </a:rPr>
              <a:t>и рекомендации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3914A5BA-DFCC-A650-C44A-5AAD150C568B}"/>
              </a:ext>
            </a:extLst>
          </p:cNvPr>
          <p:cNvSpPr txBox="1">
            <a:spLocks/>
          </p:cNvSpPr>
          <p:nvPr/>
        </p:nvSpPr>
        <p:spPr>
          <a:xfrm>
            <a:off x="279648" y="3961090"/>
            <a:ext cx="2202368" cy="14118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/>
              <a:buChar char="•"/>
            </a:pPr>
            <a:r>
              <a:rPr lang="ru-RU" sz="1600" b="1" dirty="0">
                <a:solidFill>
                  <a:srgbClr val="000000"/>
                </a:solidFill>
                <a:latin typeface="Consolas"/>
              </a:rPr>
              <a:t>Ищет опасные паттерны</a:t>
            </a:r>
            <a:endParaRPr lang="ru-RU" sz="1600"/>
          </a:p>
          <a:p>
            <a:pPr marL="285750" indent="-285750" algn="l">
              <a:buFont typeface="Arial"/>
              <a:buChar char="•"/>
            </a:pPr>
            <a:endParaRPr lang="ru-RU" sz="1600" b="1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CFA36995-0DA5-8A23-8C78-525C11DDD67D}"/>
              </a:ext>
            </a:extLst>
          </p:cNvPr>
          <p:cNvSpPr txBox="1">
            <a:spLocks/>
          </p:cNvSpPr>
          <p:nvPr/>
        </p:nvSpPr>
        <p:spPr>
          <a:xfrm>
            <a:off x="3011696" y="3961090"/>
            <a:ext cx="3010831" cy="14118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/>
              <a:buChar char="•"/>
            </a:pPr>
            <a:r>
              <a:rPr lang="ru-RU" sz="1600" b="1" err="1">
                <a:solidFill>
                  <a:srgbClr val="000000"/>
                </a:solidFill>
                <a:latin typeface="Consolas"/>
              </a:rPr>
              <a:t>SQLi</a:t>
            </a:r>
          </a:p>
          <a:p>
            <a:pPr marL="285750" indent="-285750" algn="l">
              <a:buFont typeface="Arial"/>
              <a:buChar char="•"/>
            </a:pPr>
            <a:r>
              <a:rPr lang="ru-RU" sz="1600" b="1">
                <a:solidFill>
                  <a:srgbClr val="000000"/>
                </a:solidFill>
                <a:latin typeface="Consolas"/>
              </a:rPr>
              <a:t>XSS</a:t>
            </a:r>
          </a:p>
          <a:p>
            <a:pPr marL="285750" indent="-285750" algn="l">
              <a:buFont typeface="Arial"/>
              <a:buChar char="•"/>
            </a:pPr>
            <a:r>
              <a:rPr lang="ru-RU" sz="1600" b="1">
                <a:solidFill>
                  <a:srgbClr val="000000"/>
                </a:solidFill>
                <a:latin typeface="Consolas"/>
              </a:rPr>
              <a:t>RCE</a:t>
            </a:r>
          </a:p>
          <a:p>
            <a:pPr marL="285750" indent="-285750" algn="l">
              <a:buFont typeface="Arial"/>
              <a:buChar char="•"/>
            </a:pPr>
            <a:r>
              <a:rPr lang="ru-RU" sz="1600" b="1" dirty="0" err="1">
                <a:solidFill>
                  <a:srgbClr val="000000"/>
                </a:solidFill>
                <a:latin typeface="Consolas"/>
              </a:rPr>
              <a:t>Десериализация</a:t>
            </a:r>
            <a:endParaRPr lang="ru-RU" sz="1600" b="1" dirty="0">
              <a:solidFill>
                <a:srgbClr val="000000"/>
              </a:solidFill>
              <a:latin typeface="Consolas"/>
            </a:endParaRPr>
          </a:p>
          <a:p>
            <a:pPr marL="285750" indent="-285750" algn="l">
              <a:buFont typeface="Arial"/>
              <a:buChar char="•"/>
            </a:pPr>
            <a:r>
              <a:rPr lang="ru-RU" sz="1600" b="1" dirty="0">
                <a:solidFill>
                  <a:srgbClr val="000000"/>
                </a:solidFill>
                <a:latin typeface="Consolas"/>
              </a:rPr>
              <a:t>...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EBB8960-0E70-7C50-2F2A-6C6BEFF4D619}"/>
              </a:ext>
            </a:extLst>
          </p:cNvPr>
          <p:cNvSpPr txBox="1">
            <a:spLocks/>
          </p:cNvSpPr>
          <p:nvPr/>
        </p:nvSpPr>
        <p:spPr>
          <a:xfrm>
            <a:off x="4126819" y="3524333"/>
            <a:ext cx="6681440" cy="436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>
                <a:latin typeface="Consolas"/>
              </a:rPr>
              <a:t>3. Показывает граф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1BF3A35-EF82-7AEA-FBC9-6E7F6A60BEFF}"/>
              </a:ext>
            </a:extLst>
          </p:cNvPr>
          <p:cNvSpPr txBox="1">
            <a:spLocks/>
          </p:cNvSpPr>
          <p:nvPr/>
        </p:nvSpPr>
        <p:spPr>
          <a:xfrm>
            <a:off x="6096867" y="3942504"/>
            <a:ext cx="3010831" cy="14118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/>
              <a:buChar char="•"/>
            </a:pPr>
            <a:r>
              <a:rPr lang="ru-RU" sz="1600" b="1" dirty="0">
                <a:solidFill>
                  <a:srgbClr val="000000"/>
                </a:solidFill>
                <a:latin typeface="Consolas"/>
              </a:rPr>
              <a:t>Удобно для понимания</a:t>
            </a:r>
          </a:p>
          <a:p>
            <a:pPr marL="285750" indent="-285750" algn="l">
              <a:buFont typeface="Arial"/>
              <a:buChar char="•"/>
            </a:pPr>
            <a:r>
              <a:rPr lang="ru-RU" sz="1600" b="1" dirty="0">
                <a:solidFill>
                  <a:srgbClr val="000000"/>
                </a:solidFill>
                <a:latin typeface="Consolas"/>
              </a:rPr>
              <a:t>Разные цвета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263DAA8-68E1-67A1-2118-1B39DBE0EA99}"/>
              </a:ext>
            </a:extLst>
          </p:cNvPr>
          <p:cNvSpPr txBox="1">
            <a:spLocks/>
          </p:cNvSpPr>
          <p:nvPr/>
        </p:nvSpPr>
        <p:spPr>
          <a:xfrm>
            <a:off x="8996184" y="4295626"/>
            <a:ext cx="3010831" cy="14118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/>
              <a:buChar char="•"/>
            </a:pPr>
            <a:r>
              <a:rPr lang="ru-RU" sz="1600" b="1" dirty="0">
                <a:latin typeface="Consolas"/>
              </a:rPr>
              <a:t>Понимание</a:t>
            </a:r>
          </a:p>
          <a:p>
            <a:pPr marL="285750" indent="-285750" algn="l">
              <a:buFont typeface="Arial"/>
              <a:buChar char="•"/>
            </a:pPr>
            <a:r>
              <a:rPr lang="ru-RU" sz="1600" b="1" dirty="0" err="1">
                <a:latin typeface="Consolas"/>
              </a:rPr>
              <a:t>Конкректные</a:t>
            </a:r>
            <a:r>
              <a:rPr lang="ru-RU" sz="1600" b="1" dirty="0">
                <a:latin typeface="Consolas"/>
              </a:rPr>
              <a:t> </a:t>
            </a:r>
            <a:r>
              <a:rPr lang="ru-RU" sz="1600" b="1" dirty="0" err="1">
                <a:latin typeface="Consolas"/>
              </a:rPr>
              <a:t>праки</a:t>
            </a:r>
            <a:r>
              <a:rPr lang="ru-RU" sz="1600" b="1" dirty="0">
                <a:latin typeface="Consolas"/>
              </a:rPr>
              <a:t> кода</a:t>
            </a:r>
          </a:p>
        </p:txBody>
      </p:sp>
    </p:spTree>
    <p:extLst>
      <p:ext uri="{BB962C8B-B14F-4D97-AF65-F5344CB8AC3E}">
        <p14:creationId xmlns:p14="http://schemas.microsoft.com/office/powerpoint/2010/main" val="1456628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95DF4-5461-EFDA-B65A-84F8145A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7AB5FE-45BD-CA7F-F70D-0C24EF381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55" y="119496"/>
            <a:ext cx="1830659" cy="1272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2400" b="1" dirty="0" err="1"/>
              <a:t>your</a:t>
            </a:r>
            <a:br>
              <a:rPr lang="ru-RU" sz="2400" b="1" dirty="0"/>
            </a:br>
            <a:r>
              <a:rPr lang="ru-RU" sz="2400" b="1" dirty="0" err="1"/>
              <a:t>penetration</a:t>
            </a:r>
            <a:br>
              <a:rPr lang="ru-RU" sz="2400" b="1" dirty="0"/>
            </a:br>
            <a:r>
              <a:rPr lang="ru-RU" sz="2400" b="1" dirty="0" err="1"/>
              <a:t>friend</a:t>
            </a:r>
            <a:endParaRPr lang="ru-RU" sz="2400" b="1"/>
          </a:p>
        </p:txBody>
      </p:sp>
      <p:pic>
        <p:nvPicPr>
          <p:cNvPr id="6" name="Рисунок 5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73711EA-4075-4FC1-813A-196E373D6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563" y="-243221"/>
            <a:ext cx="1759911" cy="1788656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6DFF111-FFE5-A943-45AB-2ED0AFE00E1D}"/>
              </a:ext>
            </a:extLst>
          </p:cNvPr>
          <p:cNvSpPr txBox="1">
            <a:spLocks/>
          </p:cNvSpPr>
          <p:nvPr/>
        </p:nvSpPr>
        <p:spPr>
          <a:xfrm>
            <a:off x="2677160" y="2158311"/>
            <a:ext cx="6839415" cy="12724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9600" b="1" dirty="0"/>
              <a:t>архитектура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E0C6FA4-A712-0C5A-CB78-B32E9514256B}"/>
              </a:ext>
            </a:extLst>
          </p:cNvPr>
          <p:cNvSpPr txBox="1">
            <a:spLocks/>
          </p:cNvSpPr>
          <p:nvPr/>
        </p:nvSpPr>
        <p:spPr>
          <a:xfrm>
            <a:off x="2509892" y="3431408"/>
            <a:ext cx="7173950" cy="13003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latin typeface="Consolas"/>
              </a:rPr>
              <a:t>модульный дизайн и плагины</a:t>
            </a:r>
          </a:p>
        </p:txBody>
      </p:sp>
    </p:spTree>
    <p:extLst>
      <p:ext uri="{BB962C8B-B14F-4D97-AF65-F5344CB8AC3E}">
        <p14:creationId xmlns:p14="http://schemas.microsoft.com/office/powerpoint/2010/main" val="1823724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AFCBD-E021-4E8D-4DDB-62AA6F5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47AAAA-7FD9-70D8-0242-11F88CB58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55" y="119496"/>
            <a:ext cx="1830659" cy="1272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2400" b="1" dirty="0" err="1"/>
              <a:t>your</a:t>
            </a:r>
            <a:br>
              <a:rPr lang="ru-RU" sz="2400" b="1" dirty="0"/>
            </a:br>
            <a:r>
              <a:rPr lang="ru-RU" sz="2400" b="1" dirty="0" err="1"/>
              <a:t>penetration</a:t>
            </a:r>
            <a:br>
              <a:rPr lang="ru-RU" sz="2400" b="1" dirty="0"/>
            </a:br>
            <a:r>
              <a:rPr lang="ru-RU" sz="2400" b="1" dirty="0" err="1"/>
              <a:t>friend</a:t>
            </a:r>
            <a:endParaRPr lang="ru-RU" sz="2400" b="1"/>
          </a:p>
        </p:txBody>
      </p:sp>
      <p:pic>
        <p:nvPicPr>
          <p:cNvPr id="6" name="Рисунок 5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1CD924-C1B7-25D0-98F0-BD9B551E4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563" y="-243221"/>
            <a:ext cx="1759911" cy="1788656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402386D-F7BA-F1A5-8FF9-3A6B30306E35}"/>
              </a:ext>
            </a:extLst>
          </p:cNvPr>
          <p:cNvSpPr txBox="1">
            <a:spLocks/>
          </p:cNvSpPr>
          <p:nvPr/>
        </p:nvSpPr>
        <p:spPr>
          <a:xfrm>
            <a:off x="2751501" y="2409"/>
            <a:ext cx="6839415" cy="12724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9600" b="1" dirty="0"/>
              <a:t>архитектура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E395AD36-DEB3-AE85-9CAF-EBF7C7448910}"/>
              </a:ext>
            </a:extLst>
          </p:cNvPr>
          <p:cNvSpPr txBox="1">
            <a:spLocks/>
          </p:cNvSpPr>
          <p:nvPr/>
        </p:nvSpPr>
        <p:spPr>
          <a:xfrm>
            <a:off x="2584233" y="1275506"/>
            <a:ext cx="7173950" cy="13003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latin typeface="Consolas"/>
              </a:rPr>
              <a:t>модульный дизайн и плагины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558BB-1C18-CFD5-339B-DC155AD33C0A}"/>
              </a:ext>
            </a:extLst>
          </p:cNvPr>
          <p:cNvSpPr txBox="1"/>
          <p:nvPr/>
        </p:nvSpPr>
        <p:spPr>
          <a:xfrm>
            <a:off x="3317488" y="2035098"/>
            <a:ext cx="6300439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 err="1">
                <a:latin typeface="Consolas"/>
              </a:rPr>
              <a:t>ypf</a:t>
            </a:r>
            <a:r>
              <a:rPr lang="ru-RU" sz="1600" dirty="0">
                <a:latin typeface="Consolas"/>
              </a:rPr>
              <a:t>/
├── </a:t>
            </a:r>
            <a:r>
              <a:rPr lang="ru-RU" sz="1600" dirty="0" err="1">
                <a:latin typeface="Consolas"/>
              </a:rPr>
              <a:t>core</a:t>
            </a:r>
            <a:r>
              <a:rPr lang="ru-RU" sz="1600" dirty="0">
                <a:latin typeface="Consolas"/>
              </a:rPr>
              <a:t>/ → ядро
│   ├── analyzer.py    → анализатор
│   └── auto_fixer.py  → модуль детерминированного </a:t>
            </a:r>
            <a:r>
              <a:rPr lang="ru-RU" sz="1600" dirty="0" err="1">
                <a:latin typeface="Consolas"/>
              </a:rPr>
              <a:t>ии</a:t>
            </a:r>
            <a:r>
              <a:rPr lang="ru-RU" sz="1600" dirty="0">
                <a:latin typeface="Consolas"/>
              </a:rPr>
              <a:t>
│
├── </a:t>
            </a:r>
            <a:r>
              <a:rPr lang="ru-RU" sz="1600" dirty="0" err="1">
                <a:latin typeface="Consolas"/>
              </a:rPr>
              <a:t>plugins</a:t>
            </a:r>
            <a:r>
              <a:rPr lang="ru-RU" sz="1600" dirty="0">
                <a:latin typeface="Consolas"/>
              </a:rPr>
              <a:t>/        → 6 плагинов-</a:t>
            </a:r>
            <a:r>
              <a:rPr lang="ru-RU" sz="1600" dirty="0" err="1">
                <a:latin typeface="Consolas"/>
              </a:rPr>
              <a:t>детектеров</a:t>
            </a:r>
            <a:r>
              <a:rPr lang="ru-RU" sz="1600" dirty="0">
                <a:latin typeface="Consolas"/>
              </a:rPr>
              <a:t>
│   ├── sql_detector.py     → SQL </a:t>
            </a:r>
            <a:r>
              <a:rPr lang="ru-RU" sz="1600" dirty="0" err="1">
                <a:latin typeface="Consolas"/>
              </a:rPr>
              <a:t>Injection</a:t>
            </a:r>
            <a:r>
              <a:rPr lang="ru-RU" sz="1600" dirty="0">
                <a:latin typeface="Consolas"/>
              </a:rPr>
              <a:t>
│   ├── xss_detector.py     → XSS
│   ├── rce_detector.py     → Command </a:t>
            </a:r>
            <a:r>
              <a:rPr lang="ru-RU" sz="1600" dirty="0" err="1">
                <a:latin typeface="Consolas"/>
              </a:rPr>
              <a:t>Injection</a:t>
            </a:r>
            <a:r>
              <a:rPr lang="ru-RU" sz="1600" dirty="0">
                <a:latin typeface="Consolas"/>
              </a:rPr>
              <a:t>
│   └── ... (ещё 3)
│
├── </a:t>
            </a:r>
            <a:r>
              <a:rPr lang="ru-RU" sz="1600" dirty="0" err="1">
                <a:latin typeface="Consolas"/>
              </a:rPr>
              <a:t>visualizer</a:t>
            </a:r>
            <a:r>
              <a:rPr lang="ru-RU" sz="1600" dirty="0">
                <a:latin typeface="Consolas"/>
              </a:rPr>
              <a:t>/ → визуализация
│   └── graph_builder.py → создание графов уязвимостей
│
└── web_gui.py → веб-интерфейс
 → </a:t>
            </a:r>
            <a:r>
              <a:rPr lang="ru-RU" sz="1600" dirty="0" err="1">
                <a:latin typeface="Consolas"/>
              </a:rPr>
              <a:t>Flask</a:t>
            </a:r>
            <a:endParaRPr lang="ru-RU" sz="1600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446736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D27B8-367B-BB2D-7FE8-5B2B2A517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B4538-CEEF-A2FC-B6A7-2281A9D01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55" y="119496"/>
            <a:ext cx="1830659" cy="1272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2400" b="1" dirty="0" err="1"/>
              <a:t>your</a:t>
            </a:r>
            <a:br>
              <a:rPr lang="ru-RU" sz="2400" b="1" dirty="0"/>
            </a:br>
            <a:r>
              <a:rPr lang="ru-RU" sz="2400" b="1" dirty="0" err="1"/>
              <a:t>penetration</a:t>
            </a:r>
            <a:br>
              <a:rPr lang="ru-RU" sz="2400" b="1" dirty="0"/>
            </a:br>
            <a:r>
              <a:rPr lang="ru-RU" sz="2400" b="1" dirty="0" err="1"/>
              <a:t>friend</a:t>
            </a:r>
            <a:endParaRPr lang="ru-RU" sz="2400" b="1"/>
          </a:p>
        </p:txBody>
      </p:sp>
      <p:pic>
        <p:nvPicPr>
          <p:cNvPr id="6" name="Рисунок 5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7872CE-0E97-D511-0FD2-B49C42DC6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563" y="-243221"/>
            <a:ext cx="1759911" cy="1788656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84BE92C-F6E7-6A6D-5890-AA872EAD9685}"/>
              </a:ext>
            </a:extLst>
          </p:cNvPr>
          <p:cNvSpPr txBox="1">
            <a:spLocks/>
          </p:cNvSpPr>
          <p:nvPr/>
        </p:nvSpPr>
        <p:spPr>
          <a:xfrm>
            <a:off x="2677160" y="2158311"/>
            <a:ext cx="6839415" cy="12724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9600" b="1" dirty="0"/>
              <a:t>плагин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62D8CC39-6254-B9D7-C294-86195C2685B1}"/>
              </a:ext>
            </a:extLst>
          </p:cNvPr>
          <p:cNvSpPr txBox="1">
            <a:spLocks/>
          </p:cNvSpPr>
          <p:nvPr/>
        </p:nvSpPr>
        <p:spPr>
          <a:xfrm>
            <a:off x="2509892" y="3431408"/>
            <a:ext cx="7173950" cy="13003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latin typeface="Consolas"/>
              </a:rPr>
              <a:t>plugins/sql_detector.py</a:t>
            </a:r>
          </a:p>
        </p:txBody>
      </p:sp>
    </p:spTree>
    <p:extLst>
      <p:ext uri="{BB962C8B-B14F-4D97-AF65-F5344CB8AC3E}">
        <p14:creationId xmlns:p14="http://schemas.microsoft.com/office/powerpoint/2010/main" val="4017488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E652-B8AF-CFF0-8AE8-07DF5BFA5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C8636F-CA6E-042E-6264-2F5B3B1D32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55" y="119496"/>
            <a:ext cx="1830659" cy="1272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2400" b="1" dirty="0" err="1"/>
              <a:t>your</a:t>
            </a:r>
            <a:br>
              <a:rPr lang="ru-RU" sz="2400" b="1" dirty="0"/>
            </a:br>
            <a:r>
              <a:rPr lang="ru-RU" sz="2400" b="1" dirty="0" err="1"/>
              <a:t>penetration</a:t>
            </a:r>
            <a:br>
              <a:rPr lang="ru-RU" sz="2400" b="1" dirty="0"/>
            </a:br>
            <a:r>
              <a:rPr lang="ru-RU" sz="2400" b="1" dirty="0" err="1"/>
              <a:t>friend</a:t>
            </a:r>
            <a:endParaRPr lang="ru-RU" sz="2400" b="1"/>
          </a:p>
        </p:txBody>
      </p:sp>
      <p:pic>
        <p:nvPicPr>
          <p:cNvPr id="6" name="Рисунок 5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4FCE874-2EB6-FE46-0552-5E52657E8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563" y="-243221"/>
            <a:ext cx="1759911" cy="1788656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8A82C45-7BF9-F8E3-D57A-2670AE27F162}"/>
              </a:ext>
            </a:extLst>
          </p:cNvPr>
          <p:cNvSpPr txBox="1">
            <a:spLocks/>
          </p:cNvSpPr>
          <p:nvPr/>
        </p:nvSpPr>
        <p:spPr>
          <a:xfrm>
            <a:off x="2853721" y="2408"/>
            <a:ext cx="6839415" cy="12724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9600" b="1" dirty="0"/>
              <a:t>плагин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01451ED-4EA3-327B-B13E-372D754FC0C0}"/>
              </a:ext>
            </a:extLst>
          </p:cNvPr>
          <p:cNvSpPr txBox="1">
            <a:spLocks/>
          </p:cNvSpPr>
          <p:nvPr/>
        </p:nvSpPr>
        <p:spPr>
          <a:xfrm>
            <a:off x="2686453" y="1182579"/>
            <a:ext cx="7173950" cy="13003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latin typeface="Consolas"/>
              </a:rPr>
              <a:t>да, просто sql_detector.py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003A9-8A5E-032E-8849-9306529513B5}"/>
              </a:ext>
            </a:extLst>
          </p:cNvPr>
          <p:cNvSpPr txBox="1"/>
          <p:nvPr/>
        </p:nvSpPr>
        <p:spPr>
          <a:xfrm>
            <a:off x="2685585" y="1542585"/>
            <a:ext cx="8326244" cy="51129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400" dirty="0" err="1">
                <a:latin typeface="Consolas"/>
                <a:ea typeface="+mn-lt"/>
                <a:cs typeface="+mn-lt"/>
              </a:rPr>
              <a:t>import</a:t>
            </a:r>
            <a:r>
              <a:rPr lang="ru-RU" sz="1400" dirty="0">
                <a:latin typeface="Consolas"/>
                <a:ea typeface="+mn-lt"/>
                <a:cs typeface="+mn-lt"/>
              </a:rPr>
              <a:t> 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re</a:t>
            </a:r>
            <a:br>
              <a:rPr lang="en-US" dirty="0"/>
            </a:br>
            <a:endParaRPr lang="en-US" sz="1400">
              <a:latin typeface="Consolas"/>
            </a:endParaRPr>
          </a:p>
          <a:p>
            <a:r>
              <a:rPr lang="ru-RU" sz="1400" err="1">
                <a:latin typeface="Consolas"/>
                <a:ea typeface="+mn-lt"/>
                <a:cs typeface="+mn-lt"/>
              </a:rPr>
              <a:t>def</a:t>
            </a:r>
            <a:r>
              <a:rPr lang="ru-RU" sz="1400" dirty="0">
                <a:latin typeface="Consolas"/>
                <a:ea typeface="+mn-lt"/>
                <a:cs typeface="+mn-lt"/>
              </a:rPr>
              <a:t> </a:t>
            </a:r>
            <a:r>
              <a:rPr lang="ru-RU" sz="1400" err="1">
                <a:latin typeface="Consolas"/>
                <a:ea typeface="+mn-lt"/>
                <a:cs typeface="+mn-lt"/>
              </a:rPr>
              <a:t>scan</a:t>
            </a:r>
            <a:r>
              <a:rPr lang="ru-RU" sz="1400" dirty="0">
                <a:latin typeface="Consolas"/>
                <a:ea typeface="+mn-lt"/>
                <a:cs typeface="+mn-lt"/>
              </a:rPr>
              <a:t>(</a:t>
            </a:r>
            <a:r>
              <a:rPr lang="ru-RU" sz="1400" err="1">
                <a:latin typeface="Consolas"/>
                <a:ea typeface="+mn-lt"/>
                <a:cs typeface="+mn-lt"/>
              </a:rPr>
              <a:t>content</a:t>
            </a:r>
            <a:r>
              <a:rPr lang="ru-RU" sz="1400" dirty="0">
                <a:latin typeface="Consolas"/>
                <a:ea typeface="+mn-lt"/>
                <a:cs typeface="+mn-lt"/>
              </a:rPr>
              <a:t>):</a:t>
            </a:r>
            <a:endParaRPr lang="ru-RU" sz="1400" dirty="0">
              <a:latin typeface="Consolas"/>
            </a:endParaRPr>
          </a:p>
          <a:p>
            <a:r>
              <a:rPr lang="ru-RU" sz="1400" dirty="0">
                <a:latin typeface="Consolas"/>
                <a:ea typeface="+mn-lt"/>
                <a:cs typeface="+mn-lt"/>
              </a:rPr>
              <a:t> 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findings</a:t>
            </a:r>
            <a:r>
              <a:rPr lang="ru-RU" sz="1400" dirty="0">
                <a:latin typeface="Consolas"/>
                <a:ea typeface="+mn-lt"/>
                <a:cs typeface="+mn-lt"/>
              </a:rPr>
              <a:t> = []</a:t>
            </a:r>
            <a:endParaRPr lang="ru-RU" sz="1400" dirty="0">
              <a:latin typeface="Consolas"/>
            </a:endParaRPr>
          </a:p>
          <a:p>
            <a:endParaRPr lang="ru-RU" sz="1400" dirty="0">
              <a:latin typeface="Consolas"/>
              <a:ea typeface="+mn-lt"/>
              <a:cs typeface="+mn-lt"/>
            </a:endParaRPr>
          </a:p>
          <a:p>
            <a:r>
              <a:rPr lang="ru-RU" sz="1400" dirty="0">
                <a:latin typeface="Consolas"/>
                <a:ea typeface="+mn-lt"/>
                <a:cs typeface="+mn-lt"/>
              </a:rPr>
              <a:t># паттерны инъекций</a:t>
            </a:r>
          </a:p>
          <a:p>
            <a:r>
              <a:rPr lang="ru-RU" sz="1400" dirty="0">
                <a:latin typeface="Consolas"/>
                <a:ea typeface="+mn-lt"/>
                <a:cs typeface="+mn-lt"/>
              </a:rPr>
              <a:t> 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patterns</a:t>
            </a:r>
            <a:r>
              <a:rPr lang="ru-RU" sz="1400" dirty="0">
                <a:latin typeface="Consolas"/>
                <a:ea typeface="+mn-lt"/>
                <a:cs typeface="+mn-lt"/>
              </a:rPr>
              <a:t> = [</a:t>
            </a:r>
            <a:endParaRPr lang="ru-RU" sz="1400" dirty="0">
              <a:latin typeface="Consolas"/>
            </a:endParaRPr>
          </a:p>
          <a:p>
            <a:r>
              <a:rPr lang="ru-RU" sz="1400" dirty="0">
                <a:latin typeface="Consolas"/>
                <a:ea typeface="+mn-lt"/>
                <a:cs typeface="+mn-lt"/>
              </a:rPr>
              <a:t>  (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r'f</a:t>
            </a:r>
            <a:r>
              <a:rPr lang="ru-RU" sz="1400" dirty="0">
                <a:latin typeface="Consolas"/>
                <a:ea typeface="+mn-lt"/>
                <a:cs typeface="+mn-lt"/>
              </a:rPr>
              <a:t>["\'].*SELECT.*FROM', "SQL-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injection</a:t>
            </a:r>
            <a:r>
              <a:rPr lang="ru-RU" sz="1400" dirty="0">
                <a:latin typeface="Consolas"/>
                <a:ea typeface="+mn-lt"/>
                <a:cs typeface="+mn-lt"/>
              </a:rPr>
              <a:t> 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via</a:t>
            </a:r>
            <a:r>
              <a:rPr lang="ru-RU" sz="1400" dirty="0">
                <a:latin typeface="Consolas"/>
                <a:ea typeface="+mn-lt"/>
                <a:cs typeface="+mn-lt"/>
              </a:rPr>
              <a:t> f-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string</a:t>
            </a:r>
            <a:r>
              <a:rPr lang="ru-RU" sz="1400" dirty="0">
                <a:latin typeface="Consolas"/>
                <a:ea typeface="+mn-lt"/>
                <a:cs typeface="+mn-lt"/>
              </a:rPr>
              <a:t> 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construction</a:t>
            </a:r>
            <a:r>
              <a:rPr lang="ru-RU" sz="1400" dirty="0">
                <a:latin typeface="Consolas"/>
                <a:ea typeface="+mn-lt"/>
                <a:cs typeface="+mn-lt"/>
              </a:rPr>
              <a:t>"),</a:t>
            </a:r>
            <a:endParaRPr lang="ru-RU" sz="1400" dirty="0">
              <a:latin typeface="Consolas"/>
            </a:endParaRPr>
          </a:p>
          <a:p>
            <a:r>
              <a:rPr lang="ru-RU" sz="1400" dirty="0">
                <a:latin typeface="Consolas"/>
                <a:ea typeface="+mn-lt"/>
                <a:cs typeface="+mn-lt"/>
              </a:rPr>
              <a:t>  (r'\.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execute</a:t>
            </a:r>
            <a:r>
              <a:rPr lang="ru-RU" sz="1400" dirty="0">
                <a:latin typeface="Consolas"/>
                <a:ea typeface="+mn-lt"/>
                <a:cs typeface="+mn-lt"/>
              </a:rPr>
              <a:t>\(.*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query</a:t>
            </a:r>
            <a:r>
              <a:rPr lang="ru-RU" sz="1400" dirty="0">
                <a:latin typeface="Consolas"/>
                <a:ea typeface="+mn-lt"/>
                <a:cs typeface="+mn-lt"/>
              </a:rPr>
              <a:t>', "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Dangerous</a:t>
            </a:r>
            <a:r>
              <a:rPr lang="ru-RU" sz="1400" dirty="0">
                <a:latin typeface="Consolas"/>
                <a:ea typeface="+mn-lt"/>
                <a:cs typeface="+mn-lt"/>
              </a:rPr>
              <a:t> 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execution</a:t>
            </a:r>
            <a:r>
              <a:rPr lang="ru-RU" sz="1400" dirty="0">
                <a:latin typeface="Consolas"/>
                <a:ea typeface="+mn-lt"/>
                <a:cs typeface="+mn-lt"/>
              </a:rPr>
              <a:t> 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of</a:t>
            </a:r>
            <a:r>
              <a:rPr lang="ru-RU" sz="1400" dirty="0">
                <a:latin typeface="Consolas"/>
                <a:ea typeface="+mn-lt"/>
                <a:cs typeface="+mn-lt"/>
              </a:rPr>
              <a:t> 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variable</a:t>
            </a:r>
            <a:r>
              <a:rPr lang="ru-RU" sz="1400" dirty="0">
                <a:latin typeface="Consolas"/>
                <a:ea typeface="+mn-lt"/>
                <a:cs typeface="+mn-lt"/>
              </a:rPr>
              <a:t> '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query</a:t>
            </a:r>
            <a:r>
              <a:rPr lang="ru-RU" sz="1400" dirty="0">
                <a:latin typeface="Consolas"/>
                <a:ea typeface="+mn-lt"/>
                <a:cs typeface="+mn-lt"/>
              </a:rPr>
              <a:t>'"),</a:t>
            </a:r>
            <a:endParaRPr lang="ru-RU" sz="1400" dirty="0">
              <a:latin typeface="Consolas"/>
            </a:endParaRPr>
          </a:p>
          <a:p>
            <a:r>
              <a:rPr lang="ru-RU" sz="1400" dirty="0">
                <a:latin typeface="Consolas"/>
                <a:ea typeface="+mn-lt"/>
                <a:cs typeface="+mn-lt"/>
              </a:rPr>
              <a:t>  (r'["\'].*\+.*SELECT.*FROM', "SQL-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injection</a:t>
            </a:r>
            <a:r>
              <a:rPr lang="ru-RU" sz="1400" dirty="0">
                <a:latin typeface="Consolas"/>
                <a:ea typeface="+mn-lt"/>
                <a:cs typeface="+mn-lt"/>
              </a:rPr>
              <a:t> 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via</a:t>
            </a:r>
            <a:r>
              <a:rPr lang="ru-RU" sz="1400" dirty="0">
                <a:latin typeface="Consolas"/>
                <a:ea typeface="+mn-lt"/>
                <a:cs typeface="+mn-lt"/>
              </a:rPr>
              <a:t> 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string</a:t>
            </a:r>
            <a:r>
              <a:rPr lang="ru-RU" sz="1400" dirty="0">
                <a:latin typeface="Consolas"/>
                <a:ea typeface="+mn-lt"/>
                <a:cs typeface="+mn-lt"/>
              </a:rPr>
              <a:t> 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concatenation</a:t>
            </a:r>
            <a:r>
              <a:rPr lang="ru-RU" sz="1400" dirty="0">
                <a:latin typeface="Consolas"/>
                <a:ea typeface="+mn-lt"/>
                <a:cs typeface="+mn-lt"/>
              </a:rPr>
              <a:t>")</a:t>
            </a:r>
            <a:endParaRPr lang="ru-RU" sz="1400" dirty="0">
              <a:latin typeface="Consolas"/>
            </a:endParaRPr>
          </a:p>
          <a:p>
            <a:r>
              <a:rPr lang="ru-RU" sz="1400" dirty="0">
                <a:latin typeface="Consolas"/>
                <a:ea typeface="+mn-lt"/>
                <a:cs typeface="+mn-lt"/>
              </a:rPr>
              <a:t> ]</a:t>
            </a:r>
            <a:endParaRPr lang="ru-RU" sz="1400" dirty="0">
              <a:latin typeface="Consolas"/>
            </a:endParaRPr>
          </a:p>
          <a:p>
            <a:br>
              <a:rPr lang="en-US" dirty="0"/>
            </a:br>
            <a:endParaRPr lang="en-US" sz="1400">
              <a:latin typeface="Consolas"/>
            </a:endParaRPr>
          </a:p>
          <a:p>
            <a:r>
              <a:rPr lang="ru-RU" sz="1400" err="1">
                <a:latin typeface="Consolas"/>
                <a:ea typeface="+mn-lt"/>
                <a:cs typeface="+mn-lt"/>
              </a:rPr>
              <a:t>for</a:t>
            </a:r>
            <a:r>
              <a:rPr lang="ru-RU" sz="1400" dirty="0">
                <a:latin typeface="Consolas"/>
                <a:ea typeface="+mn-lt"/>
                <a:cs typeface="+mn-lt"/>
              </a:rPr>
              <a:t> </a:t>
            </a:r>
            <a:r>
              <a:rPr lang="ru-RU" sz="1400" err="1">
                <a:latin typeface="Consolas"/>
                <a:ea typeface="+mn-lt"/>
                <a:cs typeface="+mn-lt"/>
              </a:rPr>
              <a:t>pattern</a:t>
            </a:r>
            <a:r>
              <a:rPr lang="ru-RU" sz="1400" dirty="0">
                <a:latin typeface="Consolas"/>
                <a:ea typeface="+mn-lt"/>
                <a:cs typeface="+mn-lt"/>
              </a:rPr>
              <a:t>, </a:t>
            </a:r>
            <a:r>
              <a:rPr lang="ru-RU" sz="1400" err="1">
                <a:latin typeface="Consolas"/>
                <a:ea typeface="+mn-lt"/>
                <a:cs typeface="+mn-lt"/>
              </a:rPr>
              <a:t>desc</a:t>
            </a:r>
            <a:r>
              <a:rPr lang="ru-RU" sz="1400" dirty="0">
                <a:latin typeface="Consolas"/>
                <a:ea typeface="+mn-lt"/>
                <a:cs typeface="+mn-lt"/>
              </a:rPr>
              <a:t> </a:t>
            </a:r>
            <a:r>
              <a:rPr lang="ru-RU" sz="1400" err="1">
                <a:latin typeface="Consolas"/>
                <a:ea typeface="+mn-lt"/>
                <a:cs typeface="+mn-lt"/>
              </a:rPr>
              <a:t>in</a:t>
            </a:r>
            <a:r>
              <a:rPr lang="ru-RU" sz="1400" dirty="0">
                <a:latin typeface="Consolas"/>
                <a:ea typeface="+mn-lt"/>
                <a:cs typeface="+mn-lt"/>
              </a:rPr>
              <a:t> </a:t>
            </a:r>
            <a:r>
              <a:rPr lang="ru-RU" sz="1400" err="1">
                <a:latin typeface="Consolas"/>
                <a:ea typeface="+mn-lt"/>
                <a:cs typeface="+mn-lt"/>
              </a:rPr>
              <a:t>patterns</a:t>
            </a:r>
            <a:r>
              <a:rPr lang="ru-RU" sz="1400" dirty="0">
                <a:latin typeface="Consolas"/>
                <a:ea typeface="+mn-lt"/>
                <a:cs typeface="+mn-lt"/>
              </a:rPr>
              <a:t>:</a:t>
            </a:r>
            <a:endParaRPr lang="ru-RU" sz="1400" dirty="0">
              <a:latin typeface="Consolas"/>
            </a:endParaRPr>
          </a:p>
          <a:p>
            <a:r>
              <a:rPr lang="ru-RU" sz="1400" dirty="0">
                <a:latin typeface="Consolas"/>
                <a:ea typeface="+mn-lt"/>
                <a:cs typeface="+mn-lt"/>
              </a:rPr>
              <a:t> 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if</a:t>
            </a:r>
            <a:r>
              <a:rPr lang="ru-RU" sz="1400" dirty="0">
                <a:latin typeface="Consolas"/>
                <a:ea typeface="+mn-lt"/>
                <a:cs typeface="+mn-lt"/>
              </a:rPr>
              <a:t> 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re.search</a:t>
            </a:r>
            <a:r>
              <a:rPr lang="ru-RU" sz="1400" dirty="0">
                <a:latin typeface="Consolas"/>
                <a:ea typeface="+mn-lt"/>
                <a:cs typeface="+mn-lt"/>
              </a:rPr>
              <a:t>(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pattern</a:t>
            </a:r>
            <a:r>
              <a:rPr lang="ru-RU" sz="1400" dirty="0">
                <a:latin typeface="Consolas"/>
                <a:ea typeface="+mn-lt"/>
                <a:cs typeface="+mn-lt"/>
              </a:rPr>
              <a:t>, 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content</a:t>
            </a:r>
            <a:r>
              <a:rPr lang="ru-RU" sz="1400" dirty="0">
                <a:latin typeface="Consolas"/>
                <a:ea typeface="+mn-lt"/>
                <a:cs typeface="+mn-lt"/>
              </a:rPr>
              <a:t>, 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re.IGNORECASE</a:t>
            </a:r>
            <a:r>
              <a:rPr lang="ru-RU" sz="1400" dirty="0">
                <a:latin typeface="Consolas"/>
                <a:ea typeface="+mn-lt"/>
                <a:cs typeface="+mn-lt"/>
              </a:rPr>
              <a:t>):</a:t>
            </a:r>
            <a:endParaRPr lang="ru-RU" sz="1400" dirty="0">
              <a:latin typeface="Consolas"/>
            </a:endParaRPr>
          </a:p>
          <a:p>
            <a:r>
              <a:rPr lang="ru-RU" sz="1400" dirty="0">
                <a:latin typeface="Consolas"/>
                <a:ea typeface="+mn-lt"/>
                <a:cs typeface="+mn-lt"/>
              </a:rPr>
              <a:t>  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findings.append</a:t>
            </a:r>
            <a:r>
              <a:rPr lang="ru-RU" sz="1400" dirty="0">
                <a:latin typeface="Consolas"/>
                <a:ea typeface="+mn-lt"/>
                <a:cs typeface="+mn-lt"/>
              </a:rPr>
              <a:t>({</a:t>
            </a:r>
            <a:endParaRPr lang="ru-RU" sz="1400" dirty="0">
              <a:latin typeface="Consolas"/>
            </a:endParaRPr>
          </a:p>
          <a:p>
            <a:r>
              <a:rPr lang="ru-RU" sz="1400" dirty="0">
                <a:latin typeface="Consolas"/>
                <a:ea typeface="+mn-lt"/>
                <a:cs typeface="+mn-lt"/>
              </a:rPr>
              <a:t>   "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type</a:t>
            </a:r>
            <a:r>
              <a:rPr lang="ru-RU" sz="1400" dirty="0">
                <a:latin typeface="Consolas"/>
                <a:ea typeface="+mn-lt"/>
                <a:cs typeface="+mn-lt"/>
              </a:rPr>
              <a:t>": "SQL 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Injection</a:t>
            </a:r>
            <a:r>
              <a:rPr lang="ru-RU" sz="1400" dirty="0">
                <a:latin typeface="Consolas"/>
                <a:ea typeface="+mn-lt"/>
                <a:cs typeface="+mn-lt"/>
              </a:rPr>
              <a:t>",</a:t>
            </a:r>
            <a:endParaRPr lang="ru-RU" sz="1400" dirty="0">
              <a:latin typeface="Consolas"/>
            </a:endParaRPr>
          </a:p>
          <a:p>
            <a:r>
              <a:rPr lang="ru-RU" sz="1400" dirty="0">
                <a:latin typeface="Consolas"/>
                <a:ea typeface="+mn-lt"/>
                <a:cs typeface="+mn-lt"/>
              </a:rPr>
              <a:t>   "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severity</a:t>
            </a:r>
            <a:r>
              <a:rPr lang="ru-RU" sz="1400" dirty="0">
                <a:latin typeface="Consolas"/>
                <a:ea typeface="+mn-lt"/>
                <a:cs typeface="+mn-lt"/>
              </a:rPr>
              <a:t>": "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critical</a:t>
            </a:r>
            <a:r>
              <a:rPr lang="ru-RU" sz="1400" dirty="0">
                <a:latin typeface="Consolas"/>
                <a:ea typeface="+mn-lt"/>
                <a:cs typeface="+mn-lt"/>
              </a:rPr>
              <a:t>",</a:t>
            </a:r>
            <a:endParaRPr lang="ru-RU" sz="1400" dirty="0">
              <a:latin typeface="Consolas"/>
            </a:endParaRPr>
          </a:p>
          <a:p>
            <a:r>
              <a:rPr lang="ru-RU" sz="1400" dirty="0">
                <a:latin typeface="Consolas"/>
                <a:ea typeface="+mn-lt"/>
                <a:cs typeface="+mn-lt"/>
              </a:rPr>
              <a:t>   "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details</a:t>
            </a:r>
            <a:r>
              <a:rPr lang="ru-RU" sz="1400" dirty="0">
                <a:latin typeface="Consolas"/>
                <a:ea typeface="+mn-lt"/>
                <a:cs typeface="+mn-lt"/>
              </a:rPr>
              <a:t>": </a:t>
            </a:r>
            <a:r>
              <a:rPr lang="ru-RU" sz="1400" dirty="0" err="1">
                <a:latin typeface="Consolas"/>
                <a:ea typeface="+mn-lt"/>
                <a:cs typeface="+mn-lt"/>
              </a:rPr>
              <a:t>desc</a:t>
            </a:r>
            <a:endParaRPr lang="ru-RU" sz="1400" dirty="0">
              <a:latin typeface="Consolas"/>
            </a:endParaRPr>
          </a:p>
          <a:p>
            <a:r>
              <a:rPr lang="ru-RU" sz="1400" dirty="0">
                <a:latin typeface="Consolas"/>
                <a:ea typeface="+mn-lt"/>
                <a:cs typeface="+mn-lt"/>
              </a:rPr>
              <a:t>  })</a:t>
            </a:r>
            <a:endParaRPr lang="ru-RU" sz="1400" dirty="0">
              <a:latin typeface="Consolas"/>
            </a:endParaRPr>
          </a:p>
          <a:p>
            <a:endParaRPr lang="ru-RU" sz="1400" dirty="0">
              <a:latin typeface="Consolas"/>
              <a:ea typeface="+mn-lt"/>
              <a:cs typeface="+mn-lt"/>
            </a:endParaRPr>
          </a:p>
          <a:p>
            <a:r>
              <a:rPr lang="ru-RU" sz="1400" err="1">
                <a:latin typeface="Consolas"/>
                <a:ea typeface="+mn-lt"/>
                <a:cs typeface="+mn-lt"/>
              </a:rPr>
              <a:t>return</a:t>
            </a:r>
            <a:r>
              <a:rPr lang="ru-RU" sz="1400" dirty="0">
                <a:latin typeface="Consolas"/>
                <a:ea typeface="+mn-lt"/>
                <a:cs typeface="+mn-lt"/>
              </a:rPr>
              <a:t> </a:t>
            </a:r>
            <a:r>
              <a:rPr lang="ru-RU" sz="1400" err="1">
                <a:latin typeface="Consolas"/>
                <a:ea typeface="+mn-lt"/>
                <a:cs typeface="+mn-lt"/>
              </a:rPr>
              <a:t>findings</a:t>
            </a:r>
            <a:endParaRPr lang="ru-RU" sz="1400">
              <a:latin typeface="Consolas"/>
            </a:endParaRPr>
          </a:p>
          <a:p>
            <a:pPr algn="l">
              <a:lnSpc>
                <a:spcPts val="1800"/>
              </a:lnSpc>
            </a:pPr>
            <a:endParaRPr lang="ru-RU" sz="1400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9909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45B35-4E6F-FE28-09AC-960E2376A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D7EF31-91E0-ADBC-DCA7-5F387E199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55" y="119496"/>
            <a:ext cx="1830659" cy="1272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2400" b="1" dirty="0" err="1"/>
              <a:t>your</a:t>
            </a:r>
            <a:br>
              <a:rPr lang="ru-RU" sz="2400" b="1" dirty="0"/>
            </a:br>
            <a:r>
              <a:rPr lang="ru-RU" sz="2400" b="1" dirty="0" err="1"/>
              <a:t>penetration</a:t>
            </a:r>
            <a:br>
              <a:rPr lang="ru-RU" sz="2400" b="1" dirty="0"/>
            </a:br>
            <a:r>
              <a:rPr lang="ru-RU" sz="2400" b="1" dirty="0" err="1"/>
              <a:t>friend</a:t>
            </a:r>
            <a:endParaRPr lang="ru-RU" sz="2400" b="1"/>
          </a:p>
        </p:txBody>
      </p:sp>
      <p:pic>
        <p:nvPicPr>
          <p:cNvPr id="6" name="Рисунок 5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ABDC3B-6DA3-04B0-65A2-0D6203AC2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563" y="-243221"/>
            <a:ext cx="1759911" cy="1788656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3A526BBE-52C5-8DBE-4A0D-EF1584BB7473}"/>
              </a:ext>
            </a:extLst>
          </p:cNvPr>
          <p:cNvSpPr txBox="1">
            <a:spLocks/>
          </p:cNvSpPr>
          <p:nvPr/>
        </p:nvSpPr>
        <p:spPr>
          <a:xfrm>
            <a:off x="623477" y="2158311"/>
            <a:ext cx="10937488" cy="12724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9600" b="1" dirty="0"/>
              <a:t>демо-приложение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60A88E9-7BD7-4850-B938-996EA01D5179}"/>
              </a:ext>
            </a:extLst>
          </p:cNvPr>
          <p:cNvSpPr txBox="1">
            <a:spLocks/>
          </p:cNvSpPr>
          <p:nvPr/>
        </p:nvSpPr>
        <p:spPr>
          <a:xfrm>
            <a:off x="2509892" y="3431408"/>
            <a:ext cx="7173950" cy="13003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latin typeface="Consolas"/>
              </a:rPr>
              <a:t>тестовый полигон для </a:t>
            </a:r>
            <a:r>
              <a:rPr lang="ru-RU" sz="2400" b="1" dirty="0" err="1">
                <a:latin typeface="Consolas"/>
              </a:rPr>
              <a:t>ypf</a:t>
            </a:r>
            <a:endParaRPr lang="ru-RU" sz="2400" b="1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533063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AD39A-2D4A-03AC-AC8B-313525C7C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751D4D-5EA6-5163-AF95-604C3A952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55" y="119496"/>
            <a:ext cx="1830659" cy="1272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2400" b="1" dirty="0" err="1"/>
              <a:t>your</a:t>
            </a:r>
            <a:br>
              <a:rPr lang="ru-RU" sz="2400" b="1" dirty="0"/>
            </a:br>
            <a:r>
              <a:rPr lang="ru-RU" sz="2400" b="1" dirty="0" err="1"/>
              <a:t>penetration</a:t>
            </a:r>
            <a:br>
              <a:rPr lang="ru-RU" sz="2400" b="1" dirty="0"/>
            </a:br>
            <a:r>
              <a:rPr lang="ru-RU" sz="2400" b="1" dirty="0" err="1"/>
              <a:t>friend</a:t>
            </a:r>
            <a:endParaRPr lang="ru-RU" sz="2400" b="1"/>
          </a:p>
        </p:txBody>
      </p:sp>
      <p:pic>
        <p:nvPicPr>
          <p:cNvPr id="6" name="Рисунок 5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CBE77CE-7B3C-3A70-BA94-E4A6B2D86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563" y="-243221"/>
            <a:ext cx="1759911" cy="1788656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41978B4-A4F3-F8A7-108A-CE62D363C43A}"/>
              </a:ext>
            </a:extLst>
          </p:cNvPr>
          <p:cNvSpPr txBox="1">
            <a:spLocks/>
          </p:cNvSpPr>
          <p:nvPr/>
        </p:nvSpPr>
        <p:spPr>
          <a:xfrm>
            <a:off x="632770" y="11701"/>
            <a:ext cx="10937488" cy="12724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9600" b="1" dirty="0"/>
              <a:t>демо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5D2C0FA-3C1E-3566-2A2D-474370845270}"/>
              </a:ext>
            </a:extLst>
          </p:cNvPr>
          <p:cNvSpPr txBox="1">
            <a:spLocks/>
          </p:cNvSpPr>
          <p:nvPr/>
        </p:nvSpPr>
        <p:spPr>
          <a:xfrm>
            <a:off x="2509892" y="1396310"/>
            <a:ext cx="7173950" cy="13003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Consolas"/>
              </a:rPr>
              <a:t>/demo_app/app.py</a:t>
            </a:r>
            <a:endParaRPr lang="en-US" sz="2000" dirty="0">
              <a:latin typeface="Consolas"/>
            </a:endParaRPr>
          </a:p>
          <a:p>
            <a:endParaRPr lang="ru-RU" sz="2400" b="1" dirty="0">
              <a:latin typeface="Consolas"/>
            </a:endParaRP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43ADE0DB-C573-B6F6-8645-F15080AE1DB4}"/>
              </a:ext>
            </a:extLst>
          </p:cNvPr>
          <p:cNvSpPr txBox="1">
            <a:spLocks/>
          </p:cNvSpPr>
          <p:nvPr/>
        </p:nvSpPr>
        <p:spPr>
          <a:xfrm>
            <a:off x="3020988" y="2121139"/>
            <a:ext cx="5371172" cy="2341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b="1" dirty="0">
                <a:latin typeface="Consolas"/>
              </a:rPr>
              <a:t>Приложение</a:t>
            </a:r>
            <a:endParaRPr lang="ru-RU"/>
          </a:p>
          <a:p>
            <a:pPr marL="342900" indent="-342900" algn="l">
              <a:buFont typeface="Arial"/>
              <a:buChar char="•"/>
            </a:pPr>
            <a:r>
              <a:rPr lang="ru-RU" sz="2000" b="1" dirty="0">
                <a:latin typeface="Consolas"/>
              </a:rPr>
              <a:t>Имеет несколько типов уязвимостей</a:t>
            </a:r>
          </a:p>
          <a:p>
            <a:pPr marL="342900" indent="-342900" algn="l">
              <a:buFont typeface="Arial"/>
              <a:buChar char="•"/>
            </a:pPr>
            <a:r>
              <a:rPr lang="ru-RU" sz="2000" b="1" dirty="0">
                <a:latin typeface="Consolas"/>
              </a:rPr>
              <a:t>Сделано на </a:t>
            </a:r>
            <a:r>
              <a:rPr lang="ru-RU" sz="2000" b="1" err="1">
                <a:latin typeface="Consolas"/>
              </a:rPr>
              <a:t>Flask</a:t>
            </a:r>
            <a:endParaRPr lang="ru-RU" sz="2000" b="1">
              <a:latin typeface="Consolas"/>
            </a:endParaRPr>
          </a:p>
          <a:p>
            <a:pPr algn="l"/>
            <a:endParaRPr lang="ru-RU" sz="2000" b="1" dirty="0">
              <a:latin typeface="Consola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12B117-BBD2-18B0-2E8E-68F8179CEF53}"/>
              </a:ext>
            </a:extLst>
          </p:cNvPr>
          <p:cNvSpPr txBox="1"/>
          <p:nvPr/>
        </p:nvSpPr>
        <p:spPr>
          <a:xfrm>
            <a:off x="315951" y="2016511"/>
            <a:ext cx="11039707" cy="4555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Consolas"/>
                <a:ea typeface="+mn-lt"/>
                <a:cs typeface="+mn-lt"/>
              </a:rPr>
              <a:t>from flask import Flask, request, </a:t>
            </a:r>
            <a:r>
              <a:rPr lang="en-US" sz="1600" dirty="0" err="1">
                <a:latin typeface="Consolas"/>
                <a:ea typeface="+mn-lt"/>
                <a:cs typeface="+mn-lt"/>
              </a:rPr>
              <a:t>render_template_string</a:t>
            </a:r>
            <a:endParaRPr lang="ru-RU" sz="1600" dirty="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import sqlite3</a:t>
            </a:r>
            <a:endParaRPr lang="en-US" sz="1600" dirty="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import </a:t>
            </a:r>
            <a:r>
              <a:rPr lang="en-US" sz="1600" err="1">
                <a:latin typeface="Consolas"/>
                <a:ea typeface="+mn-lt"/>
                <a:cs typeface="+mn-lt"/>
              </a:rPr>
              <a:t>os</a:t>
            </a:r>
            <a:endParaRPr lang="en-US" sz="160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import subprocess</a:t>
            </a:r>
            <a:endParaRPr lang="en-US" sz="160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import pickle</a:t>
            </a:r>
            <a:endParaRPr lang="en-US" sz="160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import </a:t>
            </a:r>
            <a:r>
              <a:rPr lang="en-US" sz="1600" err="1">
                <a:latin typeface="Consolas"/>
                <a:ea typeface="+mn-lt"/>
                <a:cs typeface="+mn-lt"/>
              </a:rPr>
              <a:t>hashlib</a:t>
            </a:r>
            <a:endParaRPr lang="en-US" sz="160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import </a:t>
            </a:r>
            <a:r>
              <a:rPr lang="en-US" sz="1600" err="1">
                <a:latin typeface="Consolas"/>
                <a:ea typeface="+mn-lt"/>
                <a:cs typeface="+mn-lt"/>
              </a:rPr>
              <a:t>yaml</a:t>
            </a:r>
            <a:endParaRPr lang="en-US" sz="1600">
              <a:latin typeface="Consolas"/>
            </a:endParaRPr>
          </a:p>
          <a:p>
            <a:endParaRPr lang="en-US" dirty="0"/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app = Flask(__name__)</a:t>
            </a:r>
            <a:endParaRPr lang="en-US" sz="160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API_KEY = "super_duper_secret_admin_key_12345" # </a:t>
            </a:r>
            <a:r>
              <a:rPr lang="en-US" sz="1600" dirty="0" err="1">
                <a:latin typeface="Consolas"/>
                <a:ea typeface="+mn-lt"/>
                <a:cs typeface="+mn-lt"/>
              </a:rPr>
              <a:t>пример</a:t>
            </a:r>
            <a:r>
              <a:rPr lang="en-US" sz="1600" dirty="0">
                <a:latin typeface="Consolas"/>
                <a:ea typeface="+mn-lt"/>
                <a:cs typeface="+mn-lt"/>
              </a:rPr>
              <a:t> </a:t>
            </a:r>
            <a:r>
              <a:rPr lang="en-US" sz="1600" dirty="0" err="1">
                <a:latin typeface="Consolas"/>
                <a:ea typeface="+mn-lt"/>
                <a:cs typeface="+mn-lt"/>
              </a:rPr>
              <a:t>хардкод-секрета</a:t>
            </a:r>
            <a:br>
              <a:rPr lang="en-US" dirty="0"/>
            </a:br>
            <a:endParaRPr lang="en-US" sz="1600" dirty="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@app.route('/')</a:t>
            </a:r>
            <a:endParaRPr lang="en-US" sz="1600" dirty="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def home():</a:t>
            </a:r>
            <a:endParaRPr lang="en-US" sz="1600" dirty="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username = </a:t>
            </a:r>
            <a:r>
              <a:rPr lang="en-US" sz="1600" err="1">
                <a:latin typeface="Consolas"/>
                <a:ea typeface="+mn-lt"/>
                <a:cs typeface="+mn-lt"/>
              </a:rPr>
              <a:t>request.args.get</a:t>
            </a:r>
            <a:r>
              <a:rPr lang="en-US" sz="1600" dirty="0">
                <a:latin typeface="Consolas"/>
                <a:ea typeface="+mn-lt"/>
                <a:cs typeface="+mn-lt"/>
              </a:rPr>
              <a:t>('username', 'Guest')</a:t>
            </a:r>
            <a:endParaRPr lang="en-US" sz="160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#xss</a:t>
            </a:r>
            <a:endParaRPr lang="en-US" sz="160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template = f"&lt;h1&gt;Hello, {username}!&lt;/h1&gt;"</a:t>
            </a:r>
            <a:endParaRPr lang="en-US" sz="1600">
              <a:latin typeface="Consolas"/>
            </a:endParaRPr>
          </a:p>
          <a:p>
            <a:r>
              <a:rPr lang="en-US" sz="1600" dirty="0">
                <a:latin typeface="Consolas"/>
                <a:ea typeface="+mn-lt"/>
                <a:cs typeface="+mn-lt"/>
              </a:rPr>
              <a:t>return </a:t>
            </a:r>
            <a:r>
              <a:rPr lang="en-US" sz="1600" err="1">
                <a:latin typeface="Consolas"/>
                <a:ea typeface="+mn-lt"/>
                <a:cs typeface="+mn-lt"/>
              </a:rPr>
              <a:t>render_template_string</a:t>
            </a:r>
            <a:r>
              <a:rPr lang="en-US" sz="1600" dirty="0">
                <a:latin typeface="Consolas"/>
                <a:ea typeface="+mn-lt"/>
                <a:cs typeface="+mn-lt"/>
              </a:rPr>
              <a:t>(template)</a:t>
            </a:r>
            <a:endParaRPr lang="en-US" sz="1600">
              <a:latin typeface="Consolas"/>
            </a:endParaRPr>
          </a:p>
          <a:p>
            <a:endParaRPr lang="en-US" sz="1600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80711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A203C-457F-9741-23D8-7864F1760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088741-49EE-0A50-847C-2B7B01C37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55" y="119496"/>
            <a:ext cx="1830659" cy="1272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2400" b="1" dirty="0" err="1"/>
              <a:t>your</a:t>
            </a:r>
            <a:br>
              <a:rPr lang="ru-RU" sz="2400" b="1" dirty="0"/>
            </a:br>
            <a:r>
              <a:rPr lang="ru-RU" sz="2400" b="1" dirty="0" err="1"/>
              <a:t>penetration</a:t>
            </a:r>
            <a:br>
              <a:rPr lang="ru-RU" sz="2400" b="1" dirty="0"/>
            </a:br>
            <a:r>
              <a:rPr lang="ru-RU" sz="2400" b="1" dirty="0" err="1"/>
              <a:t>friend</a:t>
            </a:r>
            <a:endParaRPr lang="ru-RU" sz="2400" b="1"/>
          </a:p>
        </p:txBody>
      </p:sp>
      <p:pic>
        <p:nvPicPr>
          <p:cNvPr id="6" name="Рисунок 5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5663642-A293-D359-C5CE-FF8E3548C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563" y="-243221"/>
            <a:ext cx="1759911" cy="1788656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B1E0B8D3-91AF-1893-E867-05908BED8CF5}"/>
              </a:ext>
            </a:extLst>
          </p:cNvPr>
          <p:cNvSpPr txBox="1">
            <a:spLocks/>
          </p:cNvSpPr>
          <p:nvPr/>
        </p:nvSpPr>
        <p:spPr>
          <a:xfrm>
            <a:off x="623477" y="2158311"/>
            <a:ext cx="10937488" cy="12724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9600" b="1" dirty="0"/>
              <a:t>веб-интерфейс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F15C652D-ADDB-30C8-2F58-EA7EA3DF5E73}"/>
              </a:ext>
            </a:extLst>
          </p:cNvPr>
          <p:cNvSpPr txBox="1">
            <a:spLocks/>
          </p:cNvSpPr>
          <p:nvPr/>
        </p:nvSpPr>
        <p:spPr>
          <a:xfrm>
            <a:off x="2509892" y="3431408"/>
            <a:ext cx="7173950" cy="13003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latin typeface="Consolas"/>
              </a:rPr>
              <a:t>главный </a:t>
            </a:r>
            <a:r>
              <a:rPr lang="ru-RU" sz="2400" b="1" dirty="0" err="1">
                <a:latin typeface="Consolas"/>
              </a:rPr>
              <a:t>дэшборд</a:t>
            </a:r>
            <a:endParaRPr lang="ru-RU" sz="2400" b="1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719584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E2BEA-964C-10B8-792F-40DFF9EA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468ABB-30F3-3407-AC39-6386266EA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55" y="119496"/>
            <a:ext cx="1830659" cy="1272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2400" b="1" dirty="0" err="1"/>
              <a:t>your</a:t>
            </a:r>
            <a:br>
              <a:rPr lang="ru-RU" sz="2400" b="1" dirty="0"/>
            </a:br>
            <a:r>
              <a:rPr lang="ru-RU" sz="2400" b="1" dirty="0" err="1"/>
              <a:t>penetration</a:t>
            </a:r>
            <a:br>
              <a:rPr lang="ru-RU" sz="2400" b="1" dirty="0"/>
            </a:br>
            <a:r>
              <a:rPr lang="ru-RU" sz="2400" b="1" dirty="0" err="1"/>
              <a:t>friend</a:t>
            </a:r>
            <a:endParaRPr lang="ru-RU" sz="2400" b="1"/>
          </a:p>
        </p:txBody>
      </p:sp>
      <p:pic>
        <p:nvPicPr>
          <p:cNvPr id="6" name="Рисунок 5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578203E-338C-40DE-D379-9E7FA65FC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515" y="-215343"/>
            <a:ext cx="1759911" cy="1788656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38481A0B-E6C5-B3EB-C1D3-2ADCE0836AB5}"/>
              </a:ext>
            </a:extLst>
          </p:cNvPr>
          <p:cNvSpPr txBox="1">
            <a:spLocks/>
          </p:cNvSpPr>
          <p:nvPr/>
        </p:nvSpPr>
        <p:spPr>
          <a:xfrm>
            <a:off x="-1662522" y="2362751"/>
            <a:ext cx="10937488" cy="12724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9600" b="1" dirty="0" err="1"/>
              <a:t>дэшборд</a:t>
            </a:r>
          </a:p>
        </p:txBody>
      </p:sp>
      <p:pic>
        <p:nvPicPr>
          <p:cNvPr id="3" name="Рисунок 2" descr="Изображение выглядит как текст, снимок экрана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3B649B-1709-B87B-64CD-225C40480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427" y="0"/>
            <a:ext cx="4567146" cy="6858000"/>
          </a:xfrm>
          <a:prstGeom prst="rect">
            <a:avLst/>
          </a:prstGeom>
        </p:spPr>
      </p:pic>
      <p:pic>
        <p:nvPicPr>
          <p:cNvPr id="5" name="Рисунок 4" descr="Your Image">
            <a:extLst>
              <a:ext uri="{FF2B5EF4-FFF2-40B4-BE49-F238E27FC236}">
                <a16:creationId xmlns:a16="http://schemas.microsoft.com/office/drawing/2014/main" id="{1B9FC321-6A65-02EE-088A-A9B9899B43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096" t="32148" r="34078" b="31530"/>
          <a:stretch>
            <a:fillRect/>
          </a:stretch>
        </p:blipFill>
        <p:spPr>
          <a:xfrm>
            <a:off x="1287257" y="3641568"/>
            <a:ext cx="5283287" cy="2946151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80636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DB9B-449C-43D5-C0B0-0AADE121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8B682-F9B5-A65E-10C0-D469FDFA5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7516" y="1689960"/>
            <a:ext cx="9144000" cy="238760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/>
            <a:r>
              <a:rPr lang="ru-RU" b="1" dirty="0"/>
              <a:t>спасибо</a:t>
            </a:r>
            <a:br>
              <a:rPr lang="ru-RU" b="1" dirty="0"/>
            </a:br>
            <a:r>
              <a:rPr lang="ru-RU" b="1" dirty="0"/>
              <a:t>за</a:t>
            </a:r>
            <a:br>
              <a:rPr lang="ru-RU" b="1" dirty="0"/>
            </a:br>
            <a:r>
              <a:rPr lang="ru-RU" b="1" dirty="0"/>
              <a:t>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2BC28B9-D39B-5136-401C-246DDDE78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067" y="4050317"/>
            <a:ext cx="466344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 dirty="0"/>
              <a:t> Александр, 9 класс</a:t>
            </a:r>
            <a:endParaRPr lang="ru-RU"/>
          </a:p>
        </p:txBody>
      </p:sp>
      <p:pic>
        <p:nvPicPr>
          <p:cNvPr id="6" name="Рисунок 5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33BAACE-B2ED-BE79-1027-0D0789BD0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076" y="648877"/>
            <a:ext cx="5049520" cy="505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752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your penetration friend</vt:lpstr>
      <vt:lpstr>your penetration friend</vt:lpstr>
      <vt:lpstr>your penetration friend</vt:lpstr>
      <vt:lpstr>your penetration friend</vt:lpstr>
      <vt:lpstr>your penetration friend</vt:lpstr>
      <vt:lpstr>your penetration friend</vt:lpstr>
      <vt:lpstr>your penetration friend</vt:lpstr>
      <vt:lpstr>your penetration friend</vt:lpstr>
      <vt:lpstr>your penetration friend</vt:lpstr>
      <vt:lpstr>your penetration friend</vt:lpstr>
      <vt:lpstr>your penetration friend</vt:lpstr>
      <vt:lpstr>your penetration friend</vt:lpstr>
      <vt:lpstr>your penetration friend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545</cp:revision>
  <dcterms:created xsi:type="dcterms:W3CDTF">2026-01-18T23:59:46Z</dcterms:created>
  <dcterms:modified xsi:type="dcterms:W3CDTF">2026-01-19T01:43:25Z</dcterms:modified>
</cp:coreProperties>
</file>